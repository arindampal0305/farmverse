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65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52B7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937760"/>
            <a:ext cx="4754880" cy="4754880"/>
          </a:xfrm>
          <a:prstGeom prst="ellipse">
            <a:avLst/>
          </a:prstGeom>
          <a:solidFill>
            <a:srgbClr val="52B78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5" name="Image 0" descr="/home/claude/work/icons/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5600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4297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AGRICULTURE PLATFORM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 FARM MANAGEMENT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0352" y="2331720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548640" y="3429000"/>
            <a:ext cx="6035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farm operations platform </a:t>
            </a:r>
            <a:r>
              <a:rPr lang="en-US" sz="1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smart Agro-Precision system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81928" y="886968"/>
            <a:ext cx="5724144" cy="3480772"/>
          </a:xfrm>
          <a:prstGeom prst="roundRect">
            <a:avLst>
              <a:gd name="adj" fmla="val 4203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3" name="Image 1" descr="/home/claude/work/assets/hero_illus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051560"/>
            <a:ext cx="5394960" cy="31515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50749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239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u="sng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600" u="sng" dirty="0"/>
          </a:p>
        </p:txBody>
      </p:sp>
      <p:sp>
        <p:nvSpPr>
          <p:cNvPr id="16" name="Shape 12"/>
          <p:cNvSpPr/>
          <p:nvPr/>
        </p:nvSpPr>
        <p:spPr>
          <a:xfrm>
            <a:off x="868680" y="5605272"/>
            <a:ext cx="566928" cy="566928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17" name="Image 2" descr="/home/claude/work/icons/gradu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239" y="5732831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72768" y="560527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Vinay Prashant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3977640" y="5074920"/>
            <a:ext cx="768096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4297680" y="5239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u="sng" kern="0" spc="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b="1" u="sng" dirty="0"/>
          </a:p>
        </p:txBody>
      </p:sp>
      <p:sp>
        <p:nvSpPr>
          <p:cNvPr id="21" name="Shape 16"/>
          <p:cNvSpPr/>
          <p:nvPr/>
        </p:nvSpPr>
        <p:spPr>
          <a:xfrm>
            <a:off x="4297680" y="5696712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17"/>
          <p:cNvSpPr/>
          <p:nvPr/>
        </p:nvSpPr>
        <p:spPr>
          <a:xfrm>
            <a:off x="4517136" y="5586984"/>
            <a:ext cx="207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C.Y.</a:t>
            </a: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6644640" y="5696712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19"/>
          <p:cNvSpPr/>
          <p:nvPr/>
        </p:nvSpPr>
        <p:spPr>
          <a:xfrm>
            <a:off x="6864096" y="5586984"/>
            <a:ext cx="207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Arindam Pal</a:t>
            </a:r>
            <a:endParaRPr lang="en-US" sz="1600" b="1" dirty="0"/>
          </a:p>
        </p:txBody>
      </p:sp>
      <p:sp>
        <p:nvSpPr>
          <p:cNvPr id="25" name="Shape 20"/>
          <p:cNvSpPr/>
          <p:nvPr/>
        </p:nvSpPr>
        <p:spPr>
          <a:xfrm>
            <a:off x="8991600" y="5696712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1"/>
          <p:cNvSpPr/>
          <p:nvPr/>
        </p:nvSpPr>
        <p:spPr>
          <a:xfrm>
            <a:off x="9211056" y="5586984"/>
            <a:ext cx="207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Arfa Banu</a:t>
            </a:r>
            <a:endParaRPr lang="en-US" sz="1600" b="1" dirty="0"/>
          </a:p>
        </p:txBody>
      </p:sp>
      <p:sp>
        <p:nvSpPr>
          <p:cNvPr id="27" name="Shape 22"/>
          <p:cNvSpPr/>
          <p:nvPr/>
        </p:nvSpPr>
        <p:spPr>
          <a:xfrm>
            <a:off x="4297680" y="6117336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3"/>
          <p:cNvSpPr/>
          <p:nvPr/>
        </p:nvSpPr>
        <p:spPr>
          <a:xfrm>
            <a:off x="4517136" y="6007608"/>
            <a:ext cx="207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Bhagyesh Patil</a:t>
            </a:r>
            <a:endParaRPr lang="en-US" sz="1600" b="1" dirty="0"/>
          </a:p>
        </p:txBody>
      </p:sp>
      <p:sp>
        <p:nvSpPr>
          <p:cNvPr id="29" name="Shape 24"/>
          <p:cNvSpPr/>
          <p:nvPr/>
        </p:nvSpPr>
        <p:spPr>
          <a:xfrm>
            <a:off x="6644640" y="6117336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5"/>
          <p:cNvSpPr/>
          <p:nvPr/>
        </p:nvSpPr>
        <p:spPr>
          <a:xfrm>
            <a:off x="6864096" y="6007608"/>
            <a:ext cx="207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Kousar Bee</a:t>
            </a:r>
            <a:endParaRPr lang="en-US" sz="1600" b="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 Challenges &amp; Project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EAF4EC"/>
          </a:solidFill>
          <a:ln/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84248"/>
            <a:ext cx="658368" cy="65836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home/claude/work/icons/no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1488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842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Data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68680" y="277063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information is fragmented with no single source of truth.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EAF4EC"/>
          </a:solidFill>
          <a:ln/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1984248"/>
            <a:ext cx="658368" cy="65836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/home/claude/work/icons/mar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1488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9842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Market Access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675120" y="277063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timely access to real-time crop pricing for selling decisions.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EAF4EC"/>
          </a:solidFill>
          <a:ln/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453128"/>
            <a:ext cx="658368" cy="65836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/home/claude/work/icons/man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61772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531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Record-Keeping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868680" y="523951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and crop data tracked on paper or scattered spreadsheets, prone to loss and error.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355080" y="4160520"/>
            <a:ext cx="5440680" cy="2148840"/>
          </a:xfrm>
          <a:prstGeom prst="roundRect">
            <a:avLst>
              <a:gd name="adj" fmla="val 5957"/>
            </a:avLst>
          </a:prstGeom>
          <a:solidFill>
            <a:srgbClr val="EAF4EC"/>
          </a:solidFill>
          <a:ln/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4453128"/>
            <a:ext cx="658368" cy="65836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1" name="Image 3" descr="/home/claude/work/icons/moni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461772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4531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Monitoring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6675120" y="523951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track multiple farms and crop health at once.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 &amp;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Key Features</a:t>
            </a:r>
            <a:endParaRPr lang="en-US" sz="3000" dirty="0"/>
          </a:p>
        </p:txBody>
      </p:sp>
      <p:pic>
        <p:nvPicPr>
          <p:cNvPr id="4" name="Image 0" descr="/home/claude/work/assets/aerial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0"/>
            <a:ext cx="411480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1B4332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78308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1" descr="/home/claude/work/icons/au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1931670"/>
            <a:ext cx="297180" cy="2971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7556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1371600" y="1953455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&amp; login for Farmers and Admins with distinct permissions.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898648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2" descr="/home/claude/work/icons/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" y="3047238"/>
            <a:ext cx="297180" cy="2971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87121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Market Prices</a:t>
            </a: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371600" y="3069023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farm statistics alongside real-time crop pricing to guide selling decisions.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4014216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5" name="Image 3" descr="/home/claude/work/icons/f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" y="4162806"/>
            <a:ext cx="297180" cy="2971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98678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&amp; Crop Management</a:t>
            </a: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1371600" y="4184591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and track multiple farms; monitor crop types, growth stage &amp; health.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48640" y="5129784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9" name="Image 4" descr="/home/claude/work/icons/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" y="5278374"/>
            <a:ext cx="297180" cy="2971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51023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Architecture</a:t>
            </a: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1371600" y="5300159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designed to plug in AI-powered farming tools as the platform matures.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EAF4E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19656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home/claude/work/icons/reac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6" y="1951330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556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89888" y="211226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7463" y="164592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EAF4EC"/>
          </a:solidFill>
          <a:ln/>
        </p:spPr>
      </p:sp>
      <p:sp>
        <p:nvSpPr>
          <p:cNvPr id="10" name="Shape 7"/>
          <p:cNvSpPr/>
          <p:nvPr/>
        </p:nvSpPr>
        <p:spPr>
          <a:xfrm>
            <a:off x="3642055" y="1819656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/home/claude/work/icons/sp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729" y="1951330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18711" y="17556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318711" y="211226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REST APIs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6286" y="164592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EAF4EC"/>
          </a:solidFill>
          <a:ln/>
        </p:spPr>
      </p:sp>
      <p:sp>
        <p:nvSpPr>
          <p:cNvPr id="15" name="Shape 11"/>
          <p:cNvSpPr/>
          <p:nvPr/>
        </p:nvSpPr>
        <p:spPr>
          <a:xfrm>
            <a:off x="6570878" y="1819656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/home/claude/work/icons/jw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1951330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47534" y="17556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247534" y="211226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335110" y="1645920"/>
            <a:ext cx="2697480" cy="914400"/>
          </a:xfrm>
          <a:prstGeom prst="roundRect">
            <a:avLst>
              <a:gd name="adj" fmla="val 12000"/>
            </a:avLst>
          </a:prstGeom>
          <a:solidFill>
            <a:srgbClr val="EAF4EC"/>
          </a:solidFill>
          <a:ln/>
        </p:spPr>
      </p:sp>
      <p:sp>
        <p:nvSpPr>
          <p:cNvPr id="20" name="Shape 15"/>
          <p:cNvSpPr/>
          <p:nvPr/>
        </p:nvSpPr>
        <p:spPr>
          <a:xfrm>
            <a:off x="9499702" y="1819656"/>
            <a:ext cx="548640" cy="5486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1" name="Image 3" descr="/home/claude/work/icons/postgr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375" y="1951330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176358" y="17556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0176358" y="211226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Cloud DB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2834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17804" y="3246120"/>
            <a:ext cx="1975104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431036" y="3447288"/>
            <a:ext cx="548640" cy="54864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27" name="Image 4" descr="/home/claude/work/icons/cli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8196" y="358444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90956" y="41422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790956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50" dirty="0"/>
          </a:p>
        </p:txBody>
      </p:sp>
      <p:pic>
        <p:nvPicPr>
          <p:cNvPr id="30" name="Image 5" descr="/home/claude/work/icons/arrow_right_prim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1196" y="4037076"/>
            <a:ext cx="182880" cy="201168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2912364" y="3246120"/>
            <a:ext cx="1975104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625596" y="3447288"/>
            <a:ext cx="548640" cy="54864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33" name="Image 6" descr="/home/claude/work/icons/serv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2756" y="3584448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985516" y="41422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2985516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050" dirty="0"/>
          </a:p>
        </p:txBody>
      </p:sp>
      <p:pic>
        <p:nvPicPr>
          <p:cNvPr id="36" name="Image 7" descr="/home/claude/work/icons/arrow_right_prim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5756" y="4037076"/>
            <a:ext cx="182880" cy="20116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5106924" y="3246120"/>
            <a:ext cx="1975104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5820156" y="3447288"/>
            <a:ext cx="548640" cy="54864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39" name="Image 8" descr="/home/claude/work/icons/lay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7316" y="3584448"/>
            <a:ext cx="274320" cy="27432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180076" y="41422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600" dirty="0"/>
          </a:p>
        </p:txBody>
      </p:sp>
      <p:sp>
        <p:nvSpPr>
          <p:cNvPr id="41" name="Text 30"/>
          <p:cNvSpPr/>
          <p:nvPr/>
        </p:nvSpPr>
        <p:spPr>
          <a:xfrm>
            <a:off x="5180076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pic>
        <p:nvPicPr>
          <p:cNvPr id="42" name="Image 9" descr="/home/claude/work/icons/arrow_right_prim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0316" y="4037076"/>
            <a:ext cx="182880" cy="201168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7301484" y="3246120"/>
            <a:ext cx="1975104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8014716" y="3447288"/>
            <a:ext cx="548640" cy="54864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45" name="Image 10" descr="/home/claude/work/icons/dt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1876" y="3584448"/>
            <a:ext cx="274320" cy="27432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374636" y="41422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Objects</a:t>
            </a:r>
            <a:endParaRPr lang="en-US" sz="1600" dirty="0"/>
          </a:p>
        </p:txBody>
      </p:sp>
      <p:sp>
        <p:nvSpPr>
          <p:cNvPr id="47" name="Text 34"/>
          <p:cNvSpPr/>
          <p:nvPr/>
        </p:nvSpPr>
        <p:spPr>
          <a:xfrm>
            <a:off x="7374636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Response</a:t>
            </a:r>
            <a:endParaRPr lang="en-US" sz="1050" dirty="0"/>
          </a:p>
        </p:txBody>
      </p:sp>
      <p:pic>
        <p:nvPicPr>
          <p:cNvPr id="48" name="Image 11" descr="/home/claude/work/icons/arrow_right_prima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037076"/>
            <a:ext cx="182880" cy="201168"/>
          </a:xfrm>
          <a:prstGeom prst="rect">
            <a:avLst/>
          </a:prstGeom>
        </p:spPr>
      </p:pic>
      <p:sp>
        <p:nvSpPr>
          <p:cNvPr id="49" name="Shape 35"/>
          <p:cNvSpPr/>
          <p:nvPr/>
        </p:nvSpPr>
        <p:spPr>
          <a:xfrm>
            <a:off x="9496044" y="3246120"/>
            <a:ext cx="1975104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  <a:effectLst>
            <a:outerShdw blurRad="76200" dist="25400" dir="5400000" algn="bl" rotWithShape="0">
              <a:srgbClr val="1B4332">
                <a:alpha val="10000"/>
              </a:srgbClr>
            </a:outerShdw>
          </a:effectLst>
        </p:spPr>
      </p:sp>
      <p:sp>
        <p:nvSpPr>
          <p:cNvPr id="50" name="Shape 36"/>
          <p:cNvSpPr/>
          <p:nvPr/>
        </p:nvSpPr>
        <p:spPr>
          <a:xfrm>
            <a:off x="10209276" y="344728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1" name="Image 12" descr="/home/claude/work/icons/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6436" y="3584448"/>
            <a:ext cx="274320" cy="27432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9569196" y="41422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DB</a:t>
            </a:r>
            <a:endParaRPr lang="en-US" sz="1600" dirty="0"/>
          </a:p>
        </p:txBody>
      </p:sp>
      <p:sp>
        <p:nvSpPr>
          <p:cNvPr id="53" name="Text 38"/>
          <p:cNvSpPr/>
          <p:nvPr/>
        </p:nvSpPr>
        <p:spPr>
          <a:xfrm>
            <a:off x="9569196" y="4617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JPA</a:t>
            </a:r>
            <a:endParaRPr lang="en-US" sz="1050" dirty="0"/>
          </a:p>
        </p:txBody>
      </p:sp>
      <p:sp>
        <p:nvSpPr>
          <p:cNvPr id="54" name="Shape 39"/>
          <p:cNvSpPr/>
          <p:nvPr/>
        </p:nvSpPr>
        <p:spPr>
          <a:xfrm>
            <a:off x="717804" y="5257800"/>
            <a:ext cx="10753344" cy="502920"/>
          </a:xfrm>
          <a:prstGeom prst="roundRect">
            <a:avLst>
              <a:gd name="adj" fmla="val 18182"/>
            </a:avLst>
          </a:prstGeom>
          <a:solidFill>
            <a:srgbClr val="EAF4EC"/>
          </a:solidFill>
          <a:ln/>
        </p:spPr>
      </p:sp>
      <p:sp>
        <p:nvSpPr>
          <p:cNvPr id="55" name="Text 40"/>
          <p:cNvSpPr/>
          <p:nvPr/>
        </p:nvSpPr>
        <p:spPr>
          <a:xfrm>
            <a:off x="946404" y="5257800"/>
            <a:ext cx="10296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Filter secures every request before it reaches the Service Layer   ·   Role-based access: Farmer / Admin</a:t>
            </a:r>
            <a:endParaRPr lang="en-US" sz="1400" dirty="0"/>
          </a:p>
        </p:txBody>
      </p:sp>
      <p:sp>
        <p:nvSpPr>
          <p:cNvPr id="56" name="Text 41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</a:t>
            </a:r>
            <a:endParaRPr lang="en-US" sz="900" dirty="0"/>
          </a:p>
        </p:txBody>
      </p:sp>
      <p:sp>
        <p:nvSpPr>
          <p:cNvPr id="57" name="Text 4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TEAM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Schema &amp; Current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1234440"/>
          </a:xfrm>
          <a:prstGeom prst="roundRect">
            <a:avLst>
              <a:gd name="adj" fmla="val 8889"/>
            </a:avLst>
          </a:prstGeom>
          <a:solidFill>
            <a:srgbClr val="EAF4E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822960" y="208026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home/claude/work/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240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645920" y="22660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&amp; profiles linked to farms.</a:t>
            </a:r>
            <a:endParaRPr lang="en-US" sz="1600" dirty="0"/>
          </a:p>
        </p:txBody>
      </p:sp>
      <p:pic>
        <p:nvPicPr>
          <p:cNvPr id="9" name="Image 1" descr="/home/claude/work/icons/arrow_right_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602736" y="3168396"/>
            <a:ext cx="310896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520440"/>
            <a:ext cx="6309360" cy="1234440"/>
          </a:xfrm>
          <a:prstGeom prst="roundRect">
            <a:avLst>
              <a:gd name="adj" fmla="val 8889"/>
            </a:avLst>
          </a:prstGeom>
          <a:solidFill>
            <a:srgbClr val="EAF4EC"/>
          </a:solidFill>
          <a:ln/>
        </p:spPr>
      </p:sp>
      <p:sp>
        <p:nvSpPr>
          <p:cNvPr id="11" name="Shape 7"/>
          <p:cNvSpPr/>
          <p:nvPr/>
        </p:nvSpPr>
        <p:spPr>
          <a:xfrm>
            <a:off x="822960" y="381762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2" name="Image 2" descr="/home/claude/work/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9776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703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 Table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645920" y="400339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info linked to users (1 User → Many Farms).</a:t>
            </a:r>
            <a:endParaRPr lang="en-US" sz="1600" dirty="0"/>
          </a:p>
        </p:txBody>
      </p:sp>
      <p:pic>
        <p:nvPicPr>
          <p:cNvPr id="15" name="Image 3" descr="/home/claude/work/icons/arrow_right_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602736" y="4905756"/>
            <a:ext cx="310896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5257800"/>
            <a:ext cx="6309360" cy="1234440"/>
          </a:xfrm>
          <a:prstGeom prst="roundRect">
            <a:avLst>
              <a:gd name="adj" fmla="val 8889"/>
            </a:avLst>
          </a:prstGeom>
          <a:solidFill>
            <a:srgbClr val="EAF4EC"/>
          </a:solidFill>
          <a:ln/>
        </p:spPr>
      </p:sp>
      <p:sp>
        <p:nvSpPr>
          <p:cNvPr id="17" name="Shape 11"/>
          <p:cNvSpPr/>
          <p:nvPr/>
        </p:nvSpPr>
        <p:spPr>
          <a:xfrm>
            <a:off x="822960" y="555498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4" descr="/home/claude/work/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71500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45920" y="5440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Table</a:t>
            </a: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1645920" y="574075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details linked to farms (1 Farm → Many Crops).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7168896" y="1728216"/>
            <a:ext cx="4526280" cy="2852928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4332">
                <a:alpha val="15000"/>
              </a:srgbClr>
            </a:outerShdw>
          </a:effectLst>
        </p:spPr>
      </p:sp>
      <p:pic>
        <p:nvPicPr>
          <p:cNvPr id="22" name="Image 5" descr="/home/claude/work/assets/crop_row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23760" y="1783080"/>
            <a:ext cx="4416552" cy="27432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168896" y="4800600"/>
            <a:ext cx="4526280" cy="1737360"/>
          </a:xfrm>
          <a:prstGeom prst="roundRect">
            <a:avLst>
              <a:gd name="adj" fmla="val 7368"/>
            </a:avLst>
          </a:prstGeom>
          <a:solidFill>
            <a:srgbClr val="EAF4EC"/>
          </a:solidFill>
          <a:ln/>
        </p:spPr>
      </p:sp>
      <p:sp>
        <p:nvSpPr>
          <p:cNvPr id="24" name="Text 16"/>
          <p:cNvSpPr/>
          <p:nvPr/>
        </p:nvSpPr>
        <p:spPr>
          <a:xfrm>
            <a:off x="7452360" y="4965192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pic>
        <p:nvPicPr>
          <p:cNvPr id="25" name="Image 6" descr="/home/claude/work/icons/check_second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5330952"/>
            <a:ext cx="219456" cy="21945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772400" y="5276088"/>
            <a:ext cx="3593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complete</a:t>
            </a:r>
            <a:endParaRPr lang="en-US" sz="1400" dirty="0"/>
          </a:p>
        </p:txBody>
      </p:sp>
      <p:pic>
        <p:nvPicPr>
          <p:cNvPr id="27" name="Image 7" descr="/home/claude/work/icons/check_second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5715000"/>
            <a:ext cx="219456" cy="21945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772400" y="5660136"/>
            <a:ext cx="3593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database live</a:t>
            </a:r>
            <a:endParaRPr lang="en-US" sz="1400" dirty="0"/>
          </a:p>
        </p:txBody>
      </p:sp>
      <p:pic>
        <p:nvPicPr>
          <p:cNvPr id="29" name="Image 8" descr="/home/claude/work/icons/check_second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6099048"/>
            <a:ext cx="219456" cy="21945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772400" y="6044184"/>
            <a:ext cx="3593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fully integrated</a:t>
            </a:r>
            <a:endParaRPr lang="en-US" sz="1400" dirty="0"/>
          </a:p>
        </p:txBody>
      </p:sp>
      <p:sp>
        <p:nvSpPr>
          <p:cNvPr id="31" name="Text 2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INTERFACE SHOWCASE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6673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walkthrough of the FarmVerse platform, highlighting the Farmer Dashboard and AI-powered recommendations for intuitive farm management.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0876" y="1874520"/>
            <a:ext cx="5806440" cy="3280064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  <a:effectLst>
            <a:outerShdw blurRad="127000" dist="50800" dir="5400000" algn="bl" rotWithShape="0">
              <a:srgbClr val="1B4332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2316" y="1965960"/>
            <a:ext cx="5623560" cy="219456"/>
          </a:xfrm>
          <a:prstGeom prst="roundRect">
            <a:avLst>
              <a:gd name="adj" fmla="val 16667"/>
            </a:avLst>
          </a:prstGeom>
          <a:solidFill>
            <a:srgbClr val="1B4332"/>
          </a:solidFill>
          <a:ln/>
        </p:spPr>
      </p:sp>
      <p:sp>
        <p:nvSpPr>
          <p:cNvPr id="7" name="Shape 5"/>
          <p:cNvSpPr/>
          <p:nvPr/>
        </p:nvSpPr>
        <p:spPr>
          <a:xfrm>
            <a:off x="352044" y="2039112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8348" y="2039112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4652" y="2039112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pic>
        <p:nvPicPr>
          <p:cNvPr id="10" name="Image 0" descr="/home/claude/work/assets/screensho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" y="2185416"/>
            <a:ext cx="5623560" cy="26857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6332" y="5104292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Dashboard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31636" y="1874520"/>
            <a:ext cx="5806440" cy="3280064"/>
          </a:xfrm>
          <a:prstGeom prst="roundRect">
            <a:avLst>
              <a:gd name="adj" fmla="val 3345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  <a:effectLst>
            <a:outerShdw blurRad="127000" dist="50800" dir="5400000" algn="bl" rotWithShape="0">
              <a:srgbClr val="1B4332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23076" y="1965960"/>
            <a:ext cx="5623560" cy="219456"/>
          </a:xfrm>
          <a:prstGeom prst="roundRect">
            <a:avLst>
              <a:gd name="adj" fmla="val 16667"/>
            </a:avLst>
          </a:prstGeom>
          <a:solidFill>
            <a:srgbClr val="1B4332"/>
          </a:solidFill>
          <a:ln/>
        </p:spPr>
      </p:sp>
      <p:sp>
        <p:nvSpPr>
          <p:cNvPr id="14" name="Shape 11"/>
          <p:cNvSpPr/>
          <p:nvPr/>
        </p:nvSpPr>
        <p:spPr>
          <a:xfrm>
            <a:off x="6432804" y="2039112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579108" y="2039112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725412" y="2039112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451652" y="5159156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30936" y="5520344"/>
            <a:ext cx="3429000" cy="566928"/>
          </a:xfrm>
          <a:prstGeom prst="roundRect">
            <a:avLst>
              <a:gd name="adj" fmla="val 50000"/>
            </a:avLst>
          </a:prstGeom>
          <a:solidFill>
            <a:srgbClr val="EAF4EC"/>
          </a:solidFill>
          <a:ln/>
        </p:spPr>
      </p:sp>
      <p:sp>
        <p:nvSpPr>
          <p:cNvPr id="20" name="Shape 16"/>
          <p:cNvSpPr/>
          <p:nvPr/>
        </p:nvSpPr>
        <p:spPr>
          <a:xfrm>
            <a:off x="722376" y="5602640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1" name="Image 2" descr="/home/claude/work/icons/fa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703224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97864" y="55203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Farm &amp; Crop Stats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379976" y="5520344"/>
            <a:ext cx="3429000" cy="566928"/>
          </a:xfrm>
          <a:prstGeom prst="roundRect">
            <a:avLst>
              <a:gd name="adj" fmla="val 50000"/>
            </a:avLst>
          </a:prstGeom>
          <a:solidFill>
            <a:srgbClr val="EAF4EC"/>
          </a:solidFill>
          <a:ln/>
        </p:spPr>
      </p:sp>
      <p:sp>
        <p:nvSpPr>
          <p:cNvPr id="24" name="Shape 19"/>
          <p:cNvSpPr/>
          <p:nvPr/>
        </p:nvSpPr>
        <p:spPr>
          <a:xfrm>
            <a:off x="4471416" y="5602640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5" name="Image 3" descr="/home/claude/work/icons/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70322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46904" y="55203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Recommendations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8129016" y="5520344"/>
            <a:ext cx="3429000" cy="566928"/>
          </a:xfrm>
          <a:prstGeom prst="roundRect">
            <a:avLst>
              <a:gd name="adj" fmla="val 50000"/>
            </a:avLst>
          </a:prstGeom>
          <a:solidFill>
            <a:srgbClr val="EAF4EC"/>
          </a:solidFill>
          <a:ln/>
        </p:spPr>
      </p:sp>
      <p:sp>
        <p:nvSpPr>
          <p:cNvPr id="28" name="Shape 22"/>
          <p:cNvSpPr/>
          <p:nvPr/>
        </p:nvSpPr>
        <p:spPr>
          <a:xfrm>
            <a:off x="8220456" y="5602640"/>
            <a:ext cx="402336" cy="402336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9" name="Image 4" descr="/home/claude/work/icons/au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5703224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695944" y="55203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Farmer UI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59573D5-8964-BF69-C049-BFFCE2CAD5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840" y="2185416"/>
            <a:ext cx="5623560" cy="2747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&amp;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 AI: Conversational Farming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581912"/>
            <a:ext cx="2969971" cy="4517136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  <a:effectLst>
            <a:outerShdw blurRad="127000" dist="50800" dir="5400000" algn="bl" rotWithShape="0">
              <a:srgbClr val="1B4332">
                <a:alpha val="18000"/>
              </a:srgbClr>
            </a:outerShdw>
          </a:effectLst>
        </p:spPr>
      </p:sp>
      <p:pic>
        <p:nvPicPr>
          <p:cNvPr id="5" name="Image 0" descr="/home/claude/work/assets/screenshot_chat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2750515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76395" y="169164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1" descr="/home/claude/work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415" y="18516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9355" y="1691640"/>
            <a:ext cx="67409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 AI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4899355" y="2048256"/>
            <a:ext cx="674095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chatbot for FarmVerse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076395" y="2391436"/>
            <a:ext cx="756391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 AI is a personalized assistant that answers every farmer question with relevancy and accuracy. Strong guardrails and context injection keep it reliable and tailored to each user.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076395" y="3611880"/>
            <a:ext cx="7563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076395" y="3977640"/>
            <a:ext cx="3621938" cy="960120"/>
          </a:xfrm>
          <a:prstGeom prst="roundRect">
            <a:avLst>
              <a:gd name="adj" fmla="val 11429"/>
            </a:avLst>
          </a:prstGeom>
          <a:solidFill>
            <a:srgbClr val="EAF4EC"/>
          </a:solidFill>
          <a:ln/>
        </p:spPr>
      </p:sp>
      <p:sp>
        <p:nvSpPr>
          <p:cNvPr id="13" name="Shape 9"/>
          <p:cNvSpPr/>
          <p:nvPr/>
        </p:nvSpPr>
        <p:spPr>
          <a:xfrm>
            <a:off x="4259275" y="420624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14" name="Image 2" descr="/home/claude/work/icons/pr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5005" y="43319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99355" y="3977640"/>
            <a:ext cx="266181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 Prediction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018374" y="3977640"/>
            <a:ext cx="3621938" cy="960120"/>
          </a:xfrm>
          <a:prstGeom prst="roundRect">
            <a:avLst>
              <a:gd name="adj" fmla="val 11429"/>
            </a:avLst>
          </a:prstGeom>
          <a:solidFill>
            <a:srgbClr val="EAF4EC"/>
          </a:solidFill>
          <a:ln/>
        </p:spPr>
      </p:sp>
      <p:sp>
        <p:nvSpPr>
          <p:cNvPr id="17" name="Shape 12"/>
          <p:cNvSpPr/>
          <p:nvPr/>
        </p:nvSpPr>
        <p:spPr>
          <a:xfrm>
            <a:off x="8201254" y="420624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18" name="Image 3" descr="/home/claude/work/icons/vo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6984" y="433197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41334" y="3977640"/>
            <a:ext cx="266181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076395" y="5166360"/>
            <a:ext cx="3621938" cy="960120"/>
          </a:xfrm>
          <a:prstGeom prst="roundRect">
            <a:avLst>
              <a:gd name="adj" fmla="val 11429"/>
            </a:avLst>
          </a:prstGeom>
          <a:solidFill>
            <a:srgbClr val="EAF4EC"/>
          </a:solidFill>
          <a:ln/>
        </p:spPr>
      </p:sp>
      <p:sp>
        <p:nvSpPr>
          <p:cNvPr id="21" name="Shape 15"/>
          <p:cNvSpPr/>
          <p:nvPr/>
        </p:nvSpPr>
        <p:spPr>
          <a:xfrm>
            <a:off x="4259275" y="539496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22" name="Image 4" descr="/home/claude/work/icons/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5005" y="552069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99355" y="5166360"/>
            <a:ext cx="266181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8018374" y="5166360"/>
            <a:ext cx="3621938" cy="960120"/>
          </a:xfrm>
          <a:prstGeom prst="roundRect">
            <a:avLst>
              <a:gd name="adj" fmla="val 11429"/>
            </a:avLst>
          </a:prstGeom>
          <a:solidFill>
            <a:srgbClr val="EAF4EC"/>
          </a:solidFill>
          <a:ln/>
        </p:spPr>
      </p:sp>
      <p:sp>
        <p:nvSpPr>
          <p:cNvPr id="25" name="Shape 18"/>
          <p:cNvSpPr/>
          <p:nvPr/>
        </p:nvSpPr>
        <p:spPr>
          <a:xfrm>
            <a:off x="8201254" y="5394960"/>
            <a:ext cx="502920" cy="50292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26" name="Image 5" descr="/home/claude/work/icons/precis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6984" y="5520690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841334" y="5166360"/>
            <a:ext cx="266181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Farming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sunrise_far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52B788"/>
          </a:solidFill>
          <a:ln/>
        </p:spPr>
      </p:sp>
      <p:pic>
        <p:nvPicPr>
          <p:cNvPr id="6" name="Image 1" descr="/home/claude/work/icons/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560070"/>
            <a:ext cx="251460" cy="251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4297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4864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9" name="Text 5"/>
          <p:cNvSpPr/>
          <p:nvPr/>
        </p:nvSpPr>
        <p:spPr>
          <a:xfrm>
            <a:off x="566928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FarmVerse:  Digital farming, powered by intelligence.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48640" y="425196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1" name="Image 2" descr="/home/claude/work/icons/leaf_second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507992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" y="5001768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Farming Transformation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343400" y="425196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4" name="Image 3" descr="/home/claude/work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450799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99432" y="5001768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Scalable Architecture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8138160" y="425196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7" name="Image 4" descr="/home/claude/work/icons/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4507992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394192" y="5001768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Precision Agriculture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FarmVerse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455</Words>
  <Application>Microsoft Office PowerPoint</Application>
  <PresentationFormat>Widescreen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Arindam Pal</cp:lastModifiedBy>
  <cp:revision>6</cp:revision>
  <dcterms:created xsi:type="dcterms:W3CDTF">2026-08-16T15:52:12Z</dcterms:created>
  <dcterms:modified xsi:type="dcterms:W3CDTF">2026-08-16T16:02:30Z</dcterms:modified>
</cp:coreProperties>
</file>